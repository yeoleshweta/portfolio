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A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82A2F"/>
                </a:solidFill>
                <a:latin typeface="Calibri"/>
              </a:rPr>
              <a:t>Conversion rate, indexed (non-search =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conversion</c:v>
                </c:pt>
              </c:strCache>
            </c:strRef>
          </c:tx>
          <c:spPr>
            <a:solidFill>
              <a:srgbClr val="C9D6D4"/>
            </a:solidFill>
            <a:effectLst/>
          </c:spPr>
          <c:invertIfNegative val="0"/>
          <c:dLbls>
            <c:numFmt formatCode="0&quot;×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A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D6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661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Sessions without search</c:v>
                  </c:pt>
                  <c:pt idx="1">
                    <c:v>Sessions using search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10</c:v>
                </c:pt>
              </c:numCache>
            </c:numRef>
          </c:val>
        </c:ser>
        <c:dLbls>
          <c:numFmt formatCode="0&quot;×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82A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"/>
        </c:scaling>
        <c:delete val="0"/>
        <c:axPos val="l"/>
        <c:majorGridlines>
          <c:spPr>
            <a:ln w="6350" cap="flat">
              <a:solidFill>
                <a:srgbClr val="E4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A2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82A2F"/>
                </a:solidFill>
                <a:latin typeface="Calibri"/>
              </a:rPr>
              <a:t>Measured conversion uplift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Measured uplift</c:v>
                </c:pt>
              </c:strCache>
            </c:strRef>
          </c:tx>
          <c:spPr>
            <a:solidFill>
              <a:srgbClr val="4A5FA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A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FA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Search redesign (Variant D)</c:v>
                  </c:pt>
                  <c:pt idx="1">
                    <c:v>Product-page program, low</c:v>
                  </c:pt>
                  <c:pt idx="2">
                    <c:v>Product-page program, high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</c:v>
                </c:pt>
                <c:pt idx="1">
                  <c:v>9</c:v>
                </c:pt>
                <c:pt idx="2">
                  <c:v>11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82A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4EA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0:00-1:00. Open with the thesis, slowly: 'Behavioral data tells you the SCALE of a problem. User feedback tells you the CAUSE. Experiments tell you whether your fix actually worked. This case study is about connecting all three — because at Topshop, each one alone would have failed.' Then one line of context: 'I worked at Qubit, the personalization and experimentation platform used across all seven Arcadia Group brands — this story is from Topshop, their flagship.' Do NOT explain the loop diagram in detail — it plants the structure; you'll return to it on the final slide with their tools mapped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1:00-2:30. Key move: frame this as a DECISION, not a 'problem.' Script: 'Before any research, the question I always ask is: what decision is this informing? Here it was concrete — engineering capacity was contested, and a search redesign was one of several bids for it.' Then land the 10x number and pause on it: 'This number is what made search worth fighting for. But notice what it does NOT tell us — it doesn't say WHY search was underused. And that gap is where the entire methodology of this case study lives.' If asked where 10x came from: Qubit's behavioral analytics, sessions segmented by search usage, conversion compared across segments — correlational at this stage, which is exactly why we didn't stop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2:30-4:30. This slide proves behavioral-analytics fluency (their Glassbox requirement). Script: 'Same analytics signature, three different diseases. Shipping the redesign on a guess meant a coin-flip on which disease we were treating — with engineering budget as the stake.' Then the bridge line, verbatim: 'Numbers tell you the scale of a problem. Feedback tells you how to deal with it. So before touching the interface, we needed the user's voice.' If probed on the funnel details: entry to search, query submission, results interaction, add-to-bag — and I'd note honestly that adoption, not downstream search success, was the anomaly, which already hinted toward discoverability but did NOT establish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~45 seconds, a visual beat, not a lecture. Point left: 'This is the business case in one picture — search sessions converted at roughly ten times the rate. That asymmetry is what made search friction a revenue problem, not a UX nicety.' Point right: 'And this is what the loop returned — five point eight from the search experiment, and nine to eleven cumulative when the same method ran across product pages.' One caveat line, spoken naturally: 'These are reconstructed from our reported metrics for the deck — the underlying analyses ran in-platform at the time.' Then move.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4:30-7:00 — your LONGEST beat; this is the JD’s core skill and you now have the receipt on screen. Gesture at it: ‘This is the actual instrument, live on Topshop — open text box, in-session, no multiple choice.’ Then defend each design choice from the left: WHY in-session/exit-triggered (catch users mid-friction; recall decays within minutes), WHY open-ended (checkboxes would just feed users my own biases back), WHY targeting logic (‘who sees it, when, how often, determined whether the signal was usable at all’ — strict frequency capping so we weren’t hearing only from a loud minority). Say one Qualtrics translation out loud: ‘the architecture maps one-to-one — action logic for the trigger, embedded data for context, XM Directory for frequency rules.’ THEN THE VERBATIM MOMENT: ‘And what came back was consistent — people were effectively asking us, where is the search bar?’ PAUSE for a beat. LIKELY PROBES: response volume and coding method (have your real numbers ready); vocal-minority risk — answer: theme recurrence + convergence with the behavioural anomaly + we treated it as a hypothesis to TEST, not a conclusion.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~40 seconds. Left: ‘Here’s the header as users actually met it — search is one quiet text element competing with promo banners, navigation, account and bag.’ Right: ‘And here is what shipped — Variant D. A defined field boundary, and concise invitation copy. That is the entire intervention: the border does the work of saying ‘this is a thing you type into.’’ IMPORTANT — be precise that the right image is the WINNING treatment, not the before-state; if you present it as ‘before’ and a panelist looks closely at the border, you lose credibility for free. The honest before/after framing is stronger anyway: it lets the panel SEE the mechanism you isolated.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7:00-8:30. The thesis slide — slow down. Script: 'The intercept gave us the diagnostic; the analytics gave us the business case. Neither alone would have justified the work. Feedback without the 10x number is an anecdote. The 10x number without feedback is a mystery. Joined, they made testing search the OBVIOUS next move — and that's the exact integration loop this role runs between Qualtrics and Glassbox.' One breath, then forward. If a panelist asks 'why not just ship the border, it's cheap?' — perfect setup for the next slide: because 'cheap to ship' isn't 'free to be wrong': a sitewide change on the highest-intent surface, and two DIFFERENT candidate mechanisms with different fixes.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8:30-10:30. This is your experimental-design credibility slide. Narrate the grid: 'The feedback pointed at two candidate mechanisms — visibility and invitation. Rather than betting on either, four variants isolated and combined them, so whatever won would tell us WHICH mechanism was binding.' Terminology, ready if probed: 'Four cells forming a factorial structure on two factors, run and analyzed as A/B/n against control. With today's traffic I'd run it as a formal MVT and estimate the border-by-copy interaction directly.' On the 'today I'd add' box — say it proactively; it shows growth, and it preempts the peeking question. If asked sample size: e-commerce traffic made power a non-issue; the binding constraint was run-length to cover weekly cycles, not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10:30-12:00. Do NOT read the table or the formula — they are on screen so you don’t have to. Talk strategy: ‘Anyone can run a test and pick the tallest bar. I needed signal, not noise. Baseline conversion sat around 2.1%. Variant A — copy only — flatlined, statistically indistinguishable from control. Every variant that introduced the border jumped significantly. D landed at 2.22%: a 5.8% relative uplift that comfortably cleared the 95% threshold we committed to before launch. That fractional difference looks tiny on a slide; at Topshop’s volume it is substantial annualised revenue.’ THE HONESTY LINE (memorise, deliver unprompted): ‘I don’t have the raw Qubit export from years ago — these are representative figures reconstructed to match the validated 5.8% result and the 3.1M-visitor scale you’ll see on the platform dashboard in a moment.’ Said matter-of-factly it reads as rigour; panels know nobody keeps raw exports. PROBES: multiple comparisons — four tests at .05 inflates false-positive risk; today I’d correct or model the factorial directly. Relative vs absolute — +0.12pp absolute on a 2.10% base = +5.8% relative; be fluent in both. Why conversion not RPV — conversion was the pre-registered primary; Qubit’s own published Topshop US case showed a test flat on conversion but +4.5% on revenue, which is exactly why metric choice precedes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12:00-13:00. This is your evidence anchor. Gesture at the dashboard: ‘This is the actual platform — T089, search box redesign: three point one million visitors, five point eight percent uplift. And look at what sits directly beneath it — the Stock Pointer and the Add-to-Bag CTA bundle. That is the compounding programme, live on the same screen.’ Then attribution, briefly: border carried it, copy didn’t, visibility was the disease — and that generalised into a design constraint for future UI work. The dashboard also shields the reconstructed table one slide back: the headline number and the scale are verifiably real, only the per-cell fractions are representative. If asked for a CI on 5.8%: ‘reported at platform significance thresholds at the time; today I’d lead with the interval and the revenue value of its lower bound.’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~30 seconds. 'These are some of the actual micro-changes the loop produced — urgency messaging, stock signals, recently-viewed recovery, state-targeted pop-ups. Individually tiny; together, that nine-to-eleven percent. And notice the pop-up caption — targeting and frequency logic is the same muscle whether you're serving a marketing message or an intercept survey.' That last line quietly re-links to the JD. Move on briskly — this is a texture slide, not an argument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13:00-14:00. Volunteering limitations BEFORE Q&amp;A is the highest-trust move in a research presentation — it converts your weakest surface into evidence of rigor. One sentence per card, teal line = the upgrade. Card 1 doubles as Qualtrics-fluency proof (frequency rules, quotas, weighting). Card 2 quietly bridges to your ABIM NLP work — one clause, don't detour. Card 3 preempts the single-metric critique. If a panelist adds a limitation you didn't list (e.g., seasonality): 'agreed — run-length covering weekly cycles mitigated but wouldn't eliminate it; a holdback at rollout is the stronger control' — never defensive, always additive.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14:00-14:45 — ninety seconds, strict. Script: 'Everything so far was B2C at scale. The same discipline runs in the opposite regime — B2B enterprise, four power users, where rigor means design choices, not big n: longitudinal SUS, benchmarked against industry norms, novelty effects handled with a familiarization window. Small N required DIFFERENT rigor, not less.' Then the mapping table, one breath per row — you're ending the talk standing inside their toolchain. If they want more Deere detail, that's what Q&amp;A is for; do not let this slide eat the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14:45-15:00. Return to slide 1's structure — now wearing THEIR tools. Script: 'This loop — behavioral data to locate, intercepts to diagnose, experiments to prove, dashboards to keep honest — is what I ran at Arcadia, and it's what I'd run here between Glassbox and Qualtrics from day one.' Close on the thesis line, then stop talking. Silence invites the first question; the first question is where you win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UX CASE STUDY  ·  ARCADIA GROUP × QUBIT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Analytics</a:t>
            </a:r>
            <a:endParaRPr lang="en-US" sz="5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Couldn't Tell Us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exit intercepts with behavioral data at Topshop — and turning the answer into +5.8% conversion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2487168" cy="868680"/>
          </a:xfrm>
          <a:prstGeom prst="roundRect">
            <a:avLst>
              <a:gd name="adj" fmla="val 8421"/>
            </a:avLst>
          </a:prstGeom>
          <a:solidFill>
            <a:srgbClr val="20363C"/>
          </a:solidFill>
          <a:ln w="12700">
            <a:solidFill>
              <a:srgbClr val="C466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837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5129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where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45536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93008" y="4709160"/>
            <a:ext cx="2487168" cy="868680"/>
          </a:xfrm>
          <a:prstGeom prst="roundRect">
            <a:avLst>
              <a:gd name="adj" fmla="val 8421"/>
            </a:avLst>
          </a:prstGeom>
          <a:solidFill>
            <a:srgbClr val="2036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30168" y="4837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INTERCEPTS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30168" y="5129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why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98464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45936" y="4709160"/>
            <a:ext cx="2487168" cy="868680"/>
          </a:xfrm>
          <a:prstGeom prst="roundRect">
            <a:avLst>
              <a:gd name="adj" fmla="val 8421"/>
            </a:avLst>
          </a:prstGeom>
          <a:solidFill>
            <a:srgbClr val="20363C"/>
          </a:solidFill>
          <a:ln w="12700">
            <a:solidFill>
              <a:srgbClr val="4A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4837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83096" y="5129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fix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51392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98864" y="4709160"/>
            <a:ext cx="2487168" cy="868680"/>
          </a:xfrm>
          <a:prstGeom prst="roundRect">
            <a:avLst>
              <a:gd name="adj" fmla="val 8421"/>
            </a:avLst>
          </a:prstGeom>
          <a:solidFill>
            <a:srgbClr val="20363C"/>
          </a:solidFill>
          <a:ln w="12700">
            <a:solidFill>
              <a:srgbClr val="8FA6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36024" y="483717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+ LOOP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36024" y="51297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the wins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Shweta Sharma  ·  UX Researcher  ·  Optimization Specialist, Qubit (Arcadia Group)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at stake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context. </a:t>
            </a:r>
            <a:pPr indent="0" marL="0">
              <a:buNone/>
            </a:pPr>
            <a:r>
              <a:rPr lang="en-US" sz="14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Qubit's Visitor Cloud unified analytics, segmentation, A/B testing and personalization for all seven Arcadia brands — experiments deployed as JS/CSS variations, measured against configurable statistical thresholds.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in the road. </a:t>
            </a:r>
            <a:pPr indent="0" marL="0">
              <a:buNone/>
            </a:pPr>
            <a:r>
              <a:rPr lang="en-US" sz="14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header refresh, search engagement was underperforming and abandonment ticked up — and a sitewide search redesign was proposed on intuition. Scarce IT resources meant choosing: fund the redesign, or fund competing roadmap items. Nobody could say which, because nobody knew WHY search was failing.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46177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role. </a:t>
            </a:r>
            <a:pPr indent="0" marL="0">
              <a:buNone/>
            </a:pPr>
            <a:r>
              <a:rPr lang="en-US" sz="14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optimization specialist: own the diagnosis, design the evidence, carry it to the prioritization table.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949440" y="1371600"/>
            <a:ext cx="4572000" cy="4480560"/>
          </a:xfrm>
          <a:prstGeom prst="roundRect">
            <a:avLst>
              <a:gd name="adj" fmla="val 2041"/>
            </a:avLst>
          </a:prstGeom>
          <a:solidFill>
            <a:srgbClr val="F1F4F3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7830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466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7223760" y="28346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conversion for sessions that used search vs. sessions that didn't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37033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wasn't a convenience feature — it was the single highest-intent behavior on the site. Friction there was directly suppressing revenue.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behavioral data could — and couldn't — say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04120" y="6583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9EDE1"/>
          </a:solidFill>
          <a:ln w="9525">
            <a:solidFill>
              <a:srgbClr val="C466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658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· BEHAVIOR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signals (Qubit analytics)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adoption low relative to comparable retailers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using search converted ~10× higher than sessions that never touched 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located drop-off; segment cuts ruled out device- or channel-specific causes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16052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9EDE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343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limit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4709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located the problem and priced it. It could not choose between three rival causes — and each implies a different, expensive fix.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463040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1F4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5819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0" y="18928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don't see the search field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29400" y="225856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visual redesign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2999232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1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1181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34290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it but can't use it well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29400" y="3794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interaction redesign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4535424"/>
            <a:ext cx="5120640" cy="1325880"/>
          </a:xfrm>
          <a:prstGeom prst="roundRect">
            <a:avLst>
              <a:gd name="adj" fmla="val 5517"/>
            </a:avLst>
          </a:prstGeom>
          <a:solidFill>
            <a:srgbClr val="F1F4F3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6542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quality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496519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works; results disappoint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29400" y="53309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search backend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analytics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04120" y="6583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F9EDE1"/>
          </a:solidFill>
          <a:ln w="9525">
            <a:solidFill>
              <a:srgbClr val="C466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658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· BEHAVIOR</a:t>
            </a:r>
            <a:endParaRPr lang="en-US" sz="10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46304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/ reconstructed from reported metrics for presentation; program uplift measured as cumulative RPV vs. pre-period.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intercept: capturing the why in-session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04120" y="6583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2F1F0"/>
          </a:solidFill>
          <a:ln w="9525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658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· SURVEY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760720" cy="822960"/>
          </a:xfrm>
          <a:prstGeom prst="roundRect">
            <a:avLst>
              <a:gd name="adj" fmla="val 7778"/>
            </a:avLst>
          </a:prstGeom>
          <a:solidFill>
            <a:srgbClr val="E2F1F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43560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03120" y="143560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Visitor Opinion, on-site intercept.  Qualtrics today: Website / App Insights.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760720" cy="822960"/>
          </a:xfrm>
          <a:prstGeom prst="roundRect">
            <a:avLst>
              <a:gd name="adj" fmla="val 7778"/>
            </a:avLst>
          </a:prstGeom>
          <a:solidFill>
            <a:srgbClr val="F1F4F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35000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03120" y="235000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Fired in-session at the point of friction and on exit intent.  Qualtrics today: intercept action logic.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760720" cy="822960"/>
          </a:xfrm>
          <a:prstGeom prst="roundRect">
            <a:avLst>
              <a:gd name="adj" fmla="val 7778"/>
            </a:avLst>
          </a:prstGeom>
          <a:solidFill>
            <a:srgbClr val="E2F1F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26440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326440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Open-ended — the hypothesis space was unknown; closed options would only echo our guesses.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760720" cy="822960"/>
          </a:xfrm>
          <a:prstGeom prst="roundRect">
            <a:avLst>
              <a:gd name="adj" fmla="val 7778"/>
            </a:avLst>
          </a:prstGeom>
          <a:solidFill>
            <a:srgbClr val="F1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78808"/>
            <a:ext cx="1188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03120" y="4178808"/>
            <a:ext cx="4160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Who, when, how often — frequency caps so heavy visitors aren’t oversampled.  Qualtrics today: embedded data + XM Directory rules.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576072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23036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recurring theme:  </a:t>
            </a:r>
            <a:pPr indent="0" marL="0">
              <a:buNone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struggled to find and use the search bar — a low-contrast element with no affordance saying “type here.” A causal hypothesis analytics could not produce.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75120" y="137160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F1F4F3"/>
          </a:solidFill>
          <a:ln/>
        </p:spPr>
      </p:sp>
      <p:pic>
        <p:nvPicPr>
          <p:cNvPr id="21" name="Image 0" descr="intercept_survey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4389120" cy="326440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903720" y="4983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instrument, live on Topshop: an open-text Visitor Opinion intercept — in-session, unprompted, no checkboxes to bias the answer.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surface in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1F4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header, as users met it</a:t>
            </a:r>
            <a:endParaRPr lang="en-US" sz="1300" dirty="0"/>
          </a:p>
        </p:txBody>
      </p:sp>
      <p:pic>
        <p:nvPicPr>
          <p:cNvPr id="6" name="Image 0" descr="ext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01952"/>
            <a:ext cx="3931920" cy="3867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892040" y="1965960"/>
            <a:ext cx="960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sits in the header competing with promo banners, nav, account, and bag — a text element among many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E8EBF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536192"/>
            <a:ext cx="4892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treatment (Variant D)</a:t>
            </a:r>
            <a:endParaRPr lang="en-US" sz="1300" dirty="0"/>
          </a:p>
        </p:txBody>
      </p:sp>
      <p:pic>
        <p:nvPicPr>
          <p:cNvPr id="10" name="Image 1" descr="header_after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65960"/>
            <a:ext cx="4892040" cy="36301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Triangulation: neither signal alone justified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E2F1F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— the diagnostic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40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find the search bar” — a mechanism. But alone, it's an anecdote that loses roadmap arguments to flashier ideas.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9EDE1"/>
          </a:solidFill>
          <a:ln w="12700">
            <a:solidFill>
              <a:srgbClr val="C466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0" y="1828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— the business case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224028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users convert ~10×  — a prize. But alone, it's a problem with no actionable fix attached.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064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C6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2286000" y="4160520"/>
            <a:ext cx="7589520" cy="1737360"/>
          </a:xfrm>
          <a:prstGeom prst="roundRect">
            <a:avLst>
              <a:gd name="adj" fmla="val 5263"/>
            </a:avLst>
          </a:prstGeom>
          <a:solidFill>
            <a:srgbClr val="E8EBF6"/>
          </a:solidFill>
          <a:ln w="15875">
            <a:solidFill>
              <a:srgbClr val="4A5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3891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sized, mechanism-specific, testable hypothesis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560320" y="48463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“Search visibility and affordance suppress adoption; fixing them will lift conversion — and the lift is worth engineering time, because the affected behavior converts at 10×.”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inference, then run the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104120" y="6583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8EBF6"/>
          </a:solidFill>
          <a:ln w="9525">
            <a:solidFill>
              <a:srgbClr val="4A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658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CAUSAL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mechanisms from feedback → 2×2 factorial structure (+ control)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1F4F3"/>
          </a:solidFill>
          <a:ln w="6350">
            <a:solidFill>
              <a:srgbClr val="D8E0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Copy change 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hypothesis, isolated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03320" y="18288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1F4F3"/>
          </a:solidFill>
          <a:ln w="6350">
            <a:solidFill>
              <a:srgbClr val="D8E0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9659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Border only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86200" y="24871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hypothesis, isolated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F1F4F3"/>
          </a:solidFill>
          <a:ln w="6350">
            <a:solidFill>
              <a:srgbClr val="D8E0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Border + expanded copy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858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3200400"/>
            <a:ext cx="2834640" cy="1188720"/>
          </a:xfrm>
          <a:prstGeom prst="roundRect">
            <a:avLst>
              <a:gd name="adj" fmla="val 6154"/>
            </a:avLst>
          </a:prstGeom>
          <a:solidFill>
            <a:srgbClr val="E8EBF6"/>
          </a:solidFill>
          <a:ln w="19050">
            <a:solidFill>
              <a:srgbClr val="4A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333756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Border + concise copy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886200" y="385876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minimal  ★ winner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CONTROL — existing design, evenly split traffic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4944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Pre-committed decision rules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randomized split across all five cells — assignment by visitor, consistent within session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conversion — chosen because the 10× stakes made it directly revenue-bearing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to statistical significance BEFORE any rollout conversation — evidence, not opinion, goes to IT prioritization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Factorial structure means the winner is attributable to a mechanism — not to novelty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49440" y="507492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F1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52578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I'd add: pre-registered duration (no peeking), and explicit guardrail metrics — abandonment, complaint rate via a light intercept.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validation: signal, not noise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0104120" y="6583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E8EBF6"/>
          </a:solidFill>
          <a:ln w="9525">
            <a:solidFill>
              <a:srgbClr val="4A5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04120" y="6583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CAUSAL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solidFill>
            <a:srgbClr val="182A2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71600"/>
            <a:ext cx="211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53512" y="137160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tested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50992" y="137160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/ visitors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25512" y="1371600"/>
            <a:ext cx="74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94192" y="1371600"/>
            <a:ext cx="1060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Rel. uplift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582912" y="1371600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10881360" cy="512064"/>
          </a:xfrm>
          <a:prstGeom prst="rect">
            <a:avLst/>
          </a:prstGeom>
          <a:solidFill>
            <a:srgbClr val="F1F4F3"/>
          </a:solidFill>
          <a:ln w="6350">
            <a:solidFill>
              <a:srgbClr val="DD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182880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53512" y="1828800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UI — no border, default copy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50992" y="1828800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13,020 / 620,000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25512" y="1828800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94192" y="1828800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582912" y="1828800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340864"/>
            <a:ext cx="10881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340864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Copy only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53512" y="2340864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“Invitation”, isolated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50992" y="2340864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13,082 / 620,000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25512" y="2340864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2.11%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94192" y="2340864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+0.5%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582912" y="2340864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4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n.s. (p &gt; .05)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2852928"/>
            <a:ext cx="10881360" cy="512064"/>
          </a:xfrm>
          <a:prstGeom prst="rect">
            <a:avLst/>
          </a:prstGeom>
          <a:solidFill>
            <a:srgbClr val="F1F4F3"/>
          </a:solidFill>
          <a:ln w="6350">
            <a:solidFill>
              <a:srgbClr val="DDE4E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852928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Border only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53512" y="2852928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“Visibility”, isolated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50992" y="2852928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13,640 / 620,000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525512" y="2852928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2.20%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394192" y="2852928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+4.8%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582912" y="285292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(p &lt; .05)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364992"/>
            <a:ext cx="10881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3364992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Border + long copy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53512" y="3364992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expanded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650992" y="3364992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13,516 / 620,000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525512" y="3364992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2.18%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94192" y="3364992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+3.8%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582912" y="3364992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(p &lt; .05)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3877056"/>
            <a:ext cx="10881360" cy="512064"/>
          </a:xfrm>
          <a:prstGeom prst="rect">
            <a:avLst/>
          </a:prstGeom>
          <a:solidFill>
            <a:srgbClr val="E8EBF6"/>
          </a:solidFill>
          <a:ln w="6350">
            <a:solidFill>
              <a:srgbClr val="DDE4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877056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Border + concise copy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953512" y="3877056"/>
            <a:ext cx="2569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Combined, minimal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50992" y="3877056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13,776 / 620,000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25512" y="3877056"/>
            <a:ext cx="740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2.22%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94192" y="3877056"/>
            <a:ext cx="1060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+5.8%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82912" y="3877056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winner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461772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E8EBF6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4754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Pre-committed inference:  </a:t>
            </a:r>
            <a:pPr indent="0" marL="0">
              <a:buNone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per cell against control, 95% threshold fixed before launch — no peeking, no early stopping.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72200" y="4617720"/>
            <a:ext cx="5349240" cy="1097280"/>
          </a:xfrm>
          <a:prstGeom prst="roundRect">
            <a:avLst>
              <a:gd name="adj" fmla="val 5833"/>
            </a:avLst>
          </a:prstGeom>
          <a:solidFill>
            <a:srgbClr val="F1F4F3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0" y="47548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attribution readout:  </a:t>
            </a:r>
            <a:pPr indent="0" marL="0"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flatlined against control; every bordered cell jumped. Visibility carried the effect — invitation never mattered.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40080" y="587044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figures, reconstructed to be consistent with the reported +5.8% uplift and the ~3.1M-visitor test scale shown on the platform dashboard; raw exports remain internal to Qubit / Arcadia.   Z = (CRᵥ − CRᴄ) / SE,   SE = √( p̄(1−p̄)(1/nᴄ + 1/nᵥ) 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the platform receipt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977640" cy="1920240"/>
          </a:xfrm>
          <a:prstGeom prst="roundRect">
            <a:avLst>
              <a:gd name="adj" fmla="val 4762"/>
            </a:avLst>
          </a:prstGeom>
          <a:solidFill>
            <a:srgbClr val="E8EBF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4A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+5.8%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uplift on 3.1M visitors — Variant D, shipped sitewide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carried the effect → visibility was the binding constraint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contributed nothing → the equally “obvious” rival hypothesis lost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Generalisable design constraint: every low-affordance element became a suspect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371600"/>
            <a:ext cx="6629400" cy="4297680"/>
          </a:xfrm>
          <a:prstGeom prst="roundRect">
            <a:avLst>
              <a:gd name="adj" fmla="val 1702"/>
            </a:avLst>
          </a:prstGeom>
          <a:solidFill>
            <a:srgbClr val="F1F4F3"/>
          </a:solidFill>
          <a:ln/>
        </p:spPr>
      </p:sp>
      <p:pic>
        <p:nvPicPr>
          <p:cNvPr id="9" name="Image 0" descr="qubit_dashboard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627632"/>
            <a:ext cx="6172200" cy="34655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0" y="5166360"/>
            <a:ext cx="617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experimentation dashboard — T089 Search box redesign: 3.1M visitors, 5.80% uplift. T085 Stock Pointer and T086 Add-to-Bag CTA below it are the same loop, running 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5806440"/>
            <a:ext cx="10881360" cy="621792"/>
          </a:xfrm>
          <a:prstGeom prst="roundRect">
            <a:avLst>
              <a:gd name="adj" fmla="val 10294"/>
            </a:avLst>
          </a:prstGeom>
          <a:solidFill>
            <a:srgbClr val="E2F1F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compounds:  </a:t>
            </a:r>
            <a:pPr indent="0" marL="0">
              <a:buNone/>
            </a:pPr>
            <a:r>
              <a:rPr lang="en-US" sz="115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intercept → hypothesis → test cycle across product-page micro-changes added 9–11% cumulative — tracked as cumulative RPV, because sequential results don’t naively sum.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compounding loop, visually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4343400" cy="4434840"/>
          </a:xfrm>
          <a:prstGeom prst="roundRect">
            <a:avLst>
              <a:gd name="adj" fmla="val 1684"/>
            </a:avLst>
          </a:prstGeom>
          <a:solidFill>
            <a:srgbClr val="F1F4F3"/>
          </a:solidFill>
          <a:ln/>
        </p:spPr>
      </p:sp>
      <p:pic>
        <p:nvPicPr>
          <p:cNvPr id="5" name="Image 0" descr="ext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3886200" cy="342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5148072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 micro-changes: “selling fast” urgency + “only 1 left” stock signal — each one tested, not assumed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257800" y="1417320"/>
            <a:ext cx="2377440" cy="4434840"/>
          </a:xfrm>
          <a:prstGeom prst="roundRect">
            <a:avLst>
              <a:gd name="adj" fmla="val 3077"/>
            </a:avLst>
          </a:prstGeom>
          <a:solidFill>
            <a:srgbClr val="F1F4F3"/>
          </a:solidFill>
          <a:ln/>
        </p:spPr>
      </p:sp>
      <p:pic>
        <p:nvPicPr>
          <p:cNvPr id="8" name="Image 1" descr="ext-0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645920"/>
            <a:ext cx="1783080" cy="33284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0" y="5074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Recently-viewed slider — recovery of intent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7909560" y="141732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1F4F3"/>
          </a:solidFill>
          <a:ln/>
        </p:spPr>
      </p:sp>
      <p:pic>
        <p:nvPicPr>
          <p:cNvPr id="11" name="Image 2" descr="ext-0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37360"/>
            <a:ext cx="3063240" cy="23134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83880" y="42062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pop-up — targeted by visitor state, capped by frequency rules; the same targeting-logic muscle as the intercepts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— and what I'd do differently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1F4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sampling skews engaged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intercepts oversample invested users; the silently-bouncing majority is underheard.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4023360"/>
            <a:ext cx="2971800" cy="9144"/>
          </a:xfrm>
          <a:prstGeom prst="rect">
            <a:avLst/>
          </a:prstGeom>
          <a:solidFill>
            <a:srgbClr val="C9D6D4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206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frequency caps + quota targeting in Qualtrics; weight responses by session-frequency from behavioral data.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1F4F3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83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open-end coding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53712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Theming hundreds of verbatims by hand is slow and subjectivity-prone.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53712" y="4023360"/>
            <a:ext cx="2971800" cy="9144"/>
          </a:xfrm>
          <a:prstGeom prst="rect">
            <a:avLst/>
          </a:prstGeom>
          <a:solidFill>
            <a:srgbClr val="C9D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53712" y="4206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NLP-assisted clustering for scale, human review for validity — the exact hybrid I build at ABIM.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1F4F3"/>
          </a:solidFill>
          <a:ln/>
        </p:spPr>
      </p:sp>
      <p:sp>
        <p:nvSpPr>
          <p:cNvPr id="15" name="Text 13"/>
          <p:cNvSpPr/>
          <p:nvPr/>
        </p:nvSpPr>
        <p:spPr>
          <a:xfrm>
            <a:off x="8238744" y="17830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primary metric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38744" y="26060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Conversion-only optimization can hide experience costs elsewhere.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38744" y="4023360"/>
            <a:ext cx="2971800" cy="9144"/>
          </a:xfrm>
          <a:prstGeom prst="rect">
            <a:avLst/>
          </a:prstGeom>
          <a:solidFill>
            <a:srgbClr val="C9D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238744" y="42062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explicit guardrails — abandonment, rage-clicks, complaint-rate intercept — defined before launch.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284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discipline transfer? B2B, small-N, same rigor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Deere — longitudinal usability study, enterprise migration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→ 85.6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across the study window — vs. industry average 68, 'excellent' threshold 80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25112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/>
        </p:spPr>
      </p:sp>
      <p:sp>
        <p:nvSpPr>
          <p:cNvPr id="9" name="Text 7"/>
          <p:cNvSpPr/>
          <p:nvPr/>
        </p:nvSpPr>
        <p:spPr>
          <a:xfrm>
            <a:off x="4553712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N=4 + N=40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53712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in longitudinal depth, triangulated with an org-wide survey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10144" y="192024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F1F4F3"/>
          </a:solidFill>
          <a:ln/>
        </p:spPr>
      </p:sp>
      <p:sp>
        <p:nvSpPr>
          <p:cNvPr id="12" name="Text 10"/>
          <p:cNvSpPr/>
          <p:nvPr/>
        </p:nvSpPr>
        <p:spPr>
          <a:xfrm>
            <a:off x="8238744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Novelty handled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38744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familiarization window before measuring — day-one scores measure the learning curve, not the product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loop, your stack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behavioral analytics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4526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0" y="4526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Glassbox: funnels, struggle detection, session replay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Visitor Opinion intercepts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5029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5029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Qualtrics: intercepts, embedded data, XM Directory, dashboards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experimentation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5532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testing platform + my analysis layer (Python/R)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2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I'd bring to this role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965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0363C"/>
          </a:solidFill>
          <a:ln w="12700">
            <a:solidFill>
              <a:srgbClr val="C466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4825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6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GLASSBOX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204825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finds the where — funnels, struggle, replay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0363C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0837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QUALTRICS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300837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find the why — triggers, embedded data, directories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0363C"/>
          </a:solidFill>
          <a:ln w="12700">
            <a:solidFill>
              <a:srgbClr val="4A5F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6849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96849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fix — designed inference, practical significance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20363C"/>
          </a:solidFill>
          <a:ln w="12700">
            <a:solidFill>
              <a:srgbClr val="8FA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8616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FA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4928616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honest — tracked metrics, compounding wins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0350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8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tell you the scale. Feedback tells you the cause. Experiments tell you the truth.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2026-07-20T22:07:18Z</dcterms:created>
  <dcterms:modified xsi:type="dcterms:W3CDTF">2026-07-20T22:07:18Z</dcterms:modified>
</cp:coreProperties>
</file>